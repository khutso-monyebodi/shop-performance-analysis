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0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A3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F2A3D"/>
                </a:solidFill>
                <a:latin typeface="Calibri"/>
              </a:rPr>
              <a:t>Monthly revenue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B7F8E"/>
            </a:solidFill>
            <a:ln w="38100" cap="flat">
              <a:solidFill>
                <a:srgbClr val="1B7F8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A3D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7F8E"/>
              </a:solidFill>
              <a:ln w="9525" cap="flat">
                <a:solidFill>
                  <a:srgbClr val="1B7F8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Jan 24</c:v>
                  </c:pt>
                  <c:pt idx="1">
                    <c:v>Feb 24</c:v>
                  </c:pt>
                  <c:pt idx="2">
                    <c:v>Mar 24</c:v>
                  </c:pt>
                  <c:pt idx="3">
                    <c:v>Apr 24</c:v>
                  </c:pt>
                  <c:pt idx="4">
                    <c:v>May 24</c:v>
                  </c:pt>
                  <c:pt idx="5">
                    <c:v>Jun 24</c:v>
                  </c:pt>
                  <c:pt idx="6">
                    <c:v>Jul 24</c:v>
                  </c:pt>
                  <c:pt idx="7">
                    <c:v>Aug 24</c:v>
                  </c:pt>
                  <c:pt idx="8">
                    <c:v>Sep 24</c:v>
                  </c:pt>
                  <c:pt idx="9">
                    <c:v>Oct 24</c:v>
                  </c:pt>
                  <c:pt idx="10">
                    <c:v>Nov 24</c:v>
                  </c:pt>
                  <c:pt idx="11">
                    <c:v>Dec 24</c:v>
                  </c:pt>
                  <c:pt idx="12">
                    <c:v>Jan 25</c:v>
                  </c:pt>
                  <c:pt idx="13">
                    <c:v>Feb 25</c:v>
                  </c:pt>
                  <c:pt idx="14">
                    <c:v>Mar 25</c:v>
                  </c:pt>
                  <c:pt idx="15">
                    <c:v>Apr 25</c:v>
                  </c:pt>
                  <c:pt idx="16">
                    <c:v>May 25</c:v>
                  </c:pt>
                  <c:pt idx="17">
                    <c:v>Jun 25</c:v>
                  </c:pt>
                  <c:pt idx="18">
                    <c:v>Jul 25</c:v>
                  </c:pt>
                  <c:pt idx="19">
                    <c:v>Aug 25</c:v>
                  </c:pt>
                  <c:pt idx="20">
                    <c:v>Sep 25</c:v>
                  </c:pt>
                  <c:pt idx="21">
                    <c:v>Oct 25</c:v>
                  </c:pt>
                  <c:pt idx="22">
                    <c:v>Nov 25</c:v>
                  </c:pt>
                  <c:pt idx="23">
                    <c:v>Dec 25</c:v>
                  </c:pt>
                  <c:pt idx="24">
                    <c:v>Jan 26</c:v>
                  </c:pt>
                  <c:pt idx="25">
                    <c:v>Feb 26</c:v>
                  </c:pt>
                  <c:pt idx="26">
                    <c:v>Mar 26</c:v>
                  </c:pt>
                  <c:pt idx="27">
                    <c:v>Apr 26</c:v>
                  </c:pt>
                  <c:pt idx="28">
                    <c:v>May 26</c:v>
                  </c:pt>
                  <c:pt idx="29">
                    <c:v>Jun 26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105941</c:v>
                </c:pt>
                <c:pt idx="1">
                  <c:v>97699</c:v>
                </c:pt>
                <c:pt idx="2">
                  <c:v>114276</c:v>
                </c:pt>
                <c:pt idx="3">
                  <c:v>102279</c:v>
                </c:pt>
                <c:pt idx="4">
                  <c:v>107554</c:v>
                </c:pt>
                <c:pt idx="5">
                  <c:v>100915</c:v>
                </c:pt>
                <c:pt idx="6">
                  <c:v>113724</c:v>
                </c:pt>
                <c:pt idx="7">
                  <c:v>109730</c:v>
                </c:pt>
                <c:pt idx="8">
                  <c:v>100194</c:v>
                </c:pt>
                <c:pt idx="9">
                  <c:v>103690</c:v>
                </c:pt>
                <c:pt idx="10">
                  <c:v>104852</c:v>
                </c:pt>
                <c:pt idx="11">
                  <c:v>107134</c:v>
                </c:pt>
                <c:pt idx="12">
                  <c:v>102644</c:v>
                </c:pt>
                <c:pt idx="13">
                  <c:v>95814</c:v>
                </c:pt>
                <c:pt idx="14">
                  <c:v>103348</c:v>
                </c:pt>
                <c:pt idx="15">
                  <c:v>101477</c:v>
                </c:pt>
                <c:pt idx="16">
                  <c:v>112827</c:v>
                </c:pt>
                <c:pt idx="17">
                  <c:v>111270</c:v>
                </c:pt>
                <c:pt idx="18">
                  <c:v>105046</c:v>
                </c:pt>
                <c:pt idx="19">
                  <c:v>105369</c:v>
                </c:pt>
                <c:pt idx="20">
                  <c:v>104478</c:v>
                </c:pt>
                <c:pt idx="21">
                  <c:v>107023</c:v>
                </c:pt>
                <c:pt idx="22">
                  <c:v>114515</c:v>
                </c:pt>
                <c:pt idx="23">
                  <c:v>100409</c:v>
                </c:pt>
                <c:pt idx="24">
                  <c:v>107916</c:v>
                </c:pt>
                <c:pt idx="25">
                  <c:v>64657</c:v>
                </c:pt>
                <c:pt idx="26">
                  <c:v>71492</c:v>
                </c:pt>
                <c:pt idx="27">
                  <c:v>75175</c:v>
                </c:pt>
                <c:pt idx="28">
                  <c:v>75185</c:v>
                </c:pt>
                <c:pt idx="29">
                  <c:v>70148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2A3D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  <c:max val="140000"/>
          <c:min val="0"/>
        </c:scaling>
        <c:delete val="0"/>
        <c:axPos val="l"/>
        <c:majorGridlines>
          <c:spPr>
            <a:ln w="6350" cap="flat">
              <a:solidFill>
                <a:srgbClr val="E3E8EB"/>
              </a:solidFill>
              <a:prstDash val="solid"/>
              <a:round/>
            </a:ln>
          </c:spPr>
        </c:majorGridlines>
        <c:numFmt formatCode="&quot;R&quot;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A3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F2A3D"/>
                </a:solidFill>
                <a:latin typeface="Calibri"/>
              </a:rPr>
              <a:t>Revenue change by category, Feb–Jun 2026 vs 2025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A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Home Office</c:v>
                  </c:pt>
                  <c:pt idx="1">
                    <c:v>Accessories</c:v>
                  </c:pt>
                  <c:pt idx="2">
                    <c:v>Stationery</c:v>
                  </c:pt>
                  <c:pt idx="3">
                    <c:v>Electronics</c:v>
                  </c:pt>
                  <c:pt idx="4">
                    <c:v>Wearables</c:v>
                  </c:pt>
                  <c:pt idx="5">
                    <c:v>Gaming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-37.9</c:v>
                </c:pt>
                <c:pt idx="1">
                  <c:v>-34.2</c:v>
                </c:pt>
                <c:pt idx="2">
                  <c:v>-33.9</c:v>
                </c:pt>
                <c:pt idx="3">
                  <c:v>-31.3</c:v>
                </c:pt>
                <c:pt idx="4">
                  <c:v>-27.8</c:v>
                </c:pt>
                <c:pt idx="5">
                  <c:v>-26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F2A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high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A3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F2A3D"/>
                </a:solidFill>
                <a:latin typeface="Calibri"/>
              </a:rPr>
              <a:t>Revenue by 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B7F8E"/>
            </a:solidFill>
            <a:effectLst/>
          </c:spPr>
          <c:invertIfNegative val="0"/>
          <c:dLbls>
            <c:numFmt formatCode="&quot;R&quot;#,##0,&quot;k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A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Electronics</c:v>
                  </c:pt>
                  <c:pt idx="1">
                    <c:v>Accessories</c:v>
                  </c:pt>
                  <c:pt idx="2">
                    <c:v>Home Office</c:v>
                  </c:pt>
                  <c:pt idx="3">
                    <c:v>Wearables</c:v>
                  </c:pt>
                  <c:pt idx="4">
                    <c:v>Gaming</c:v>
                  </c:pt>
                  <c:pt idx="5">
                    <c:v>Stationery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1515534</c:v>
                </c:pt>
                <c:pt idx="1">
                  <c:v>483431</c:v>
                </c:pt>
                <c:pt idx="2">
                  <c:v>389941</c:v>
                </c:pt>
                <c:pt idx="3">
                  <c:v>376140</c:v>
                </c:pt>
                <c:pt idx="4">
                  <c:v>173995</c:v>
                </c:pt>
                <c:pt idx="5">
                  <c:v>57737</c:v>
                </c:pt>
              </c:numCache>
            </c:numRef>
          </c:val>
        </c:ser>
        <c:dLbls>
          <c:numFmt formatCode="&quot;R&quot;#,##0,&quot;k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F2A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A3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F2A3D"/>
                </a:solidFill>
                <a:latin typeface="Calibri"/>
              </a:rPr>
              <a:t>Units sold by 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A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Accessories</c:v>
                  </c:pt>
                  <c:pt idx="1">
                    <c:v>Electronics</c:v>
                  </c:pt>
                  <c:pt idx="2">
                    <c:v>Stationery</c:v>
                  </c:pt>
                  <c:pt idx="3">
                    <c:v>Home Office</c:v>
                  </c:pt>
                  <c:pt idx="4">
                    <c:v>Wearables</c:v>
                  </c:pt>
                  <c:pt idx="5">
                    <c:v>Gaming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30085</c:v>
                </c:pt>
                <c:pt idx="1">
                  <c:v>28721</c:v>
                </c:pt>
                <c:pt idx="2">
                  <c:v>8901</c:v>
                </c:pt>
                <c:pt idx="3">
                  <c:v>5171</c:v>
                </c:pt>
                <c:pt idx="4">
                  <c:v>4999</c:v>
                </c:pt>
                <c:pt idx="5">
                  <c:v>2773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2A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A3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F2A3D"/>
                </a:solidFill>
                <a:latin typeface="Calibri"/>
              </a:rPr>
              <a:t>Top 10 products by revenue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B7F8E"/>
            </a:solidFill>
            <a:effectLst/>
          </c:spPr>
          <c:invertIfNegative val="0"/>
          <c:dLbls>
            <c:numFmt formatCode="&quot;R&quot;#,##0,&quot;k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A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Headphones</c:v>
                  </c:pt>
                  <c:pt idx="1">
                    <c:v>Office Chair</c:v>
                  </c:pt>
                  <c:pt idx="2">
                    <c:v>Tablet</c:v>
                  </c:pt>
                  <c:pt idx="3">
                    <c:v>Smart Watch</c:v>
                  </c:pt>
                  <c:pt idx="4">
                    <c:v>Microphone</c:v>
                  </c:pt>
                  <c:pt idx="5">
                    <c:v>Mechanical Keyboard</c:v>
                  </c:pt>
                  <c:pt idx="6">
                    <c:v>Bluetooth Speaker</c:v>
                  </c:pt>
                  <c:pt idx="7">
                    <c:v>Gaming Controller</c:v>
                  </c:pt>
                  <c:pt idx="8">
                    <c:v>Power Bank</c:v>
                  </c:pt>
                  <c:pt idx="9">
                    <c:v>Fitness Band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292796</c:v>
                </c:pt>
                <c:pt idx="1">
                  <c:v>288216</c:v>
                </c:pt>
                <c:pt idx="2">
                  <c:v>244699</c:v>
                </c:pt>
                <c:pt idx="3">
                  <c:v>224610</c:v>
                </c:pt>
                <c:pt idx="4">
                  <c:v>203987</c:v>
                </c:pt>
                <c:pt idx="5">
                  <c:v>195027</c:v>
                </c:pt>
                <c:pt idx="6">
                  <c:v>184318</c:v>
                </c:pt>
                <c:pt idx="7">
                  <c:v>173995</c:v>
                </c:pt>
                <c:pt idx="8">
                  <c:v>155598</c:v>
                </c:pt>
                <c:pt idx="9">
                  <c:v>151530</c:v>
                </c:pt>
              </c:numCache>
            </c:numRef>
          </c:val>
        </c:ser>
        <c:dLbls>
          <c:numFmt formatCode="&quot;R&quot;#,##0,&quot;k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F2A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A3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F2A3D"/>
                </a:solidFill>
                <a:latin typeface="Calibri"/>
              </a:rPr>
              <a:t>Top 10 products by units sold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A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Notebook</c:v>
                  </c:pt>
                  <c:pt idx="1">
                    <c:v>Phone Case</c:v>
                  </c:pt>
                  <c:pt idx="2">
                    <c:v>USB-C Cable</c:v>
                  </c:pt>
                  <c:pt idx="3">
                    <c:v>HDMI Cable</c:v>
                  </c:pt>
                  <c:pt idx="4">
                    <c:v>Wireless Mouse</c:v>
                  </c:pt>
                  <c:pt idx="5">
                    <c:v>Power Bank</c:v>
                  </c:pt>
                  <c:pt idx="6">
                    <c:v>Headphones</c:v>
                  </c:pt>
                  <c:pt idx="7">
                    <c:v>Backpack</c:v>
                  </c:pt>
                  <c:pt idx="8">
                    <c:v>Laptop Stand</c:v>
                  </c:pt>
                  <c:pt idx="9">
                    <c:v>Desk Lamp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8901</c:v>
                </c:pt>
                <c:pt idx="1">
                  <c:v>8266</c:v>
                </c:pt>
                <c:pt idx="2">
                  <c:v>7760</c:v>
                </c:pt>
                <c:pt idx="3">
                  <c:v>6476</c:v>
                </c:pt>
                <c:pt idx="4">
                  <c:v>5256</c:v>
                </c:pt>
                <c:pt idx="5">
                  <c:v>4807</c:v>
                </c:pt>
                <c:pt idx="6">
                  <c:v>4215</c:v>
                </c:pt>
                <c:pt idx="7">
                  <c:v>3853</c:v>
                </c:pt>
                <c:pt idx="8">
                  <c:v>3730</c:v>
                </c:pt>
                <c:pt idx="9">
                  <c:v>3438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2A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A3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F2A3D"/>
                </a:solidFill>
                <a:latin typeface="Calibri"/>
              </a:rPr>
              <a:t>Revenue by city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B7F8E"/>
            </a:solidFill>
            <a:effectLst/>
          </c:spPr>
          <c:invertIfNegative val="0"/>
          <c:dLbls>
            <c:numFmt formatCode="&quot;R&quot;#,##0,&quot;k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A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Tehran</c:v>
                  </c:pt>
                  <c:pt idx="1">
                    <c:v>Mashhad</c:v>
                  </c:pt>
                  <c:pt idx="2">
                    <c:v>Karaj</c:v>
                  </c:pt>
                  <c:pt idx="3">
                    <c:v>Isfahan</c:v>
                  </c:pt>
                  <c:pt idx="4">
                    <c:v>Shiraz</c:v>
                  </c:pt>
                  <c:pt idx="5">
                    <c:v>Tabriz</c:v>
                  </c:pt>
                  <c:pt idx="6">
                    <c:v>Ahvaz</c:v>
                  </c:pt>
                  <c:pt idx="7">
                    <c:v>Rasht</c:v>
                  </c:pt>
                  <c:pt idx="8">
                    <c:v>Kerman</c:v>
                  </c:pt>
                  <c:pt idx="9">
                    <c:v>Qom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824162</c:v>
                </c:pt>
                <c:pt idx="1">
                  <c:v>377751</c:v>
                </c:pt>
                <c:pt idx="2">
                  <c:v>298446</c:v>
                </c:pt>
                <c:pt idx="3">
                  <c:v>287990</c:v>
                </c:pt>
                <c:pt idx="4">
                  <c:v>272439</c:v>
                </c:pt>
                <c:pt idx="5">
                  <c:v>253854</c:v>
                </c:pt>
                <c:pt idx="6">
                  <c:v>178273</c:v>
                </c:pt>
                <c:pt idx="7">
                  <c:v>171931</c:v>
                </c:pt>
                <c:pt idx="8">
                  <c:v>148446</c:v>
                </c:pt>
                <c:pt idx="9">
                  <c:v>141488</c:v>
                </c:pt>
              </c:numCache>
            </c:numRef>
          </c:val>
        </c:ser>
        <c:dLbls>
          <c:numFmt formatCode="&quot;R&quot;#,##0,&quot;k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F2A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A3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F2A3D"/>
                </a:solidFill>
                <a:latin typeface="Calibri"/>
              </a:rPr>
              <a:t>Revenue by customer segment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7F8E"/>
              </a:solidFill>
              <a:effectLst/>
            </c:spPr>
          </c:dPt>
          <c:dPt>
            <c:idx val="1"/>
            <c:bubble3D val="0"/>
            <c:spPr>
              <a:solidFill>
                <a:srgbClr val="F2A541"/>
              </a:solidFill>
              <a:effectLst/>
            </c:spPr>
          </c:dPt>
          <c:dPt>
            <c:idx val="2"/>
            <c:bubble3D val="0"/>
            <c:spPr>
              <a:solidFill>
                <a:srgbClr val="0F2A3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Regular</c:v>
                </c:pt>
                <c:pt idx="1">
                  <c:v>New</c:v>
                </c:pt>
                <c:pt idx="2">
                  <c:v>VIP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1664030</c:v>
                </c:pt>
                <c:pt idx="1">
                  <c:v>1042343</c:v>
                </c:pt>
                <c:pt idx="2">
                  <c:v>288670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F2A3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A3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F2A3D"/>
                </a:solidFill>
                <a:latin typeface="Calibri"/>
              </a:rPr>
              <a:t>Payment failure rate by method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Failure rate</c:v>
                </c:pt>
              </c:strCache>
            </c:strRef>
          </c:tx>
          <c:spPr>
            <a:solidFill>
              <a:srgbClr val="1B7F8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A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Unknown</c:v>
                  </c:pt>
                  <c:pt idx="1">
                    <c:v>CardToCard</c:v>
                  </c:pt>
                  <c:pt idx="2">
                    <c:v>Gateway</c:v>
                  </c:pt>
                  <c:pt idx="3">
                    <c:v>Wallet</c:v>
                  </c:pt>
                  <c:pt idx="4">
                    <c:v>Cash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3.89</c:v>
                </c:pt>
                <c:pt idx="2">
                  <c:v>3.86</c:v>
                </c:pt>
                <c:pt idx="3">
                  <c:v>3.86</c:v>
                </c:pt>
                <c:pt idx="4">
                  <c:v>3.64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F2A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A3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F2A3D"/>
                </a:solidFill>
                <a:latin typeface="Calibri"/>
              </a:rPr>
              <a:t>Average order value by discount level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AOV</c:v>
                </c:pt>
              </c:strCache>
            </c:strRef>
          </c:tx>
          <c:spPr>
            <a:solidFill>
              <a:srgbClr val="1B7F8E"/>
            </a:solidFill>
            <a:effectLst/>
          </c:spPr>
          <c:invertIfNegative val="0"/>
          <c:dLbls>
            <c:numFmt formatCode="&quot;R&quot;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A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0%</c:v>
                  </c:pt>
                  <c:pt idx="1">
                    <c:v>5%</c:v>
                  </c:pt>
                  <c:pt idx="2">
                    <c:v>10%</c:v>
                  </c:pt>
                  <c:pt idx="3">
                    <c:v>15%</c:v>
                  </c:pt>
                  <c:pt idx="4">
                    <c:v>20%</c:v>
                  </c:pt>
                  <c:pt idx="5">
                    <c:v>30%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74.7</c:v>
                </c:pt>
                <c:pt idx="1">
                  <c:v>71.4</c:v>
                </c:pt>
                <c:pt idx="2">
                  <c:v>68.9</c:v>
                </c:pt>
                <c:pt idx="3">
                  <c:v>65</c:v>
                </c:pt>
                <c:pt idx="4">
                  <c:v>61.3</c:v>
                </c:pt>
                <c:pt idx="5">
                  <c:v>56.1</c:v>
                </c:pt>
              </c:numCache>
            </c:numRef>
          </c:val>
        </c:ser>
        <c:dLbls>
          <c:numFmt formatCode="&quot;R&quot;0" sourceLinked="0"/>
          <c:txPr>
            <a:bodyPr/>
            <a:lstStyle/>
            <a:p>
              <a:pPr>
                <a:defRPr b="0" i="0" strike="noStrike" sz="1100" u="none">
                  <a:solidFill>
                    <a:srgbClr val="0F2A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this deck answers how the shop performed from Jan 2024 to Jun 2026 and ends with three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headline findings. Revenue rule: cancelled, returned, failed and refunded orders are not counted as revenue because the shop did not keep that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cleaned file with every order and the revenue flag is supplied alongside this deck so every number can be traced.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Monthly revenue 2024-2025 averaged R105.5k. Feb-Jun 2026 averaged R71.3k. Average order value is flat (R69 to R71), so the fall is purely order volume.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cannot say why. Candidate causes to check: marketing spend, site or checkout changes, stock-outs, competitor pricing.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Electronics: R1.52M, 50.6% of revenue. Stationery: 8,901 units but only R58k.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Overlap between the two lists: Headphones, Power Bank, Bluetooth Speaker. Monitor is priced at R21, which looks wrong; see the data notes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Segment shares exclude 25 orders from the unknown customer. Segment average order values are all about R68-R70.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14.3% of orders are not Completed-and-Paid. Failure rates by method: Unknown 4.0%, CardToCard 3.9%, Gateway 3.9%, Wallet 3.9%, Cash 3.6%.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 order value falls from R74.7 at no discount to R56.1 at 30%. Average units stay between 1.87 and 1.90. This shows association, not proof of cause.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R34k a month is the gap between the 2024-25 average (R105.5k) and the Feb-Jun 2026 average (R71.3k).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figures trace to Shop_Performance_Cleaned.csv (CountsAsRevenue = TRUE rows).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Performance  |  Jan 2024 – Jun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PERFORMANCE REVIEW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Is the Shop Performing?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2024 – June 2026  ·  Prepared for the Head of Operations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173B52"/>
          </a:solidFill>
          <a:ln w="12700">
            <a:solidFill>
              <a:srgbClr val="173B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2918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R3.0M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86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paid, completed orders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320040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173B52"/>
          </a:solidFill>
          <a:ln w="12700">
            <a:solidFill>
              <a:srgbClr val="173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32918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42,825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3886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that earned revenue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320040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173B52"/>
          </a:solidFill>
          <a:ln w="12700">
            <a:solidFill>
              <a:srgbClr val="173B5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32918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R70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886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Steady for two years, then orders fell by a third in 2026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34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R2.997M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42032" y="11887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9192" y="1234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49,975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2679192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placed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26864" y="11887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64024" y="1234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R70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764024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11696" y="11887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48856" y="1234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14.3%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848856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earning nothing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286000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fell from about R105k to R71k a month since Feb 2026 (−32% vs the same months of 2025).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2880360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earns 51% of revenue, and Tehran alone brings 27.5%. Revenue depends on a few places.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474720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give away R247k without adding units: higher discounts only lower the order value.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= Quantity × UnitPrice × (1 − Discount), counted only for Completed and Paid orders.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data problems were found and fixed before any analysis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566160"/>
                <a:gridCol w="29260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found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did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 links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orders point to CustomerID 999999, which has no customer record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for product totals; shown as Unknown in city and segment 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Impossible quantities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orders with a quantity of 0 or below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 (49,975 orders remain)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Averages typed into blanks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quantities and 220 discounts had been filled with the average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Replaced with a whole 2 units and a 5% discount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labels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665 orders with no city, 450 with no payment 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as Unknown; nothing was guessed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date columns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and Month were built from signup date, not order 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Rebuilt from the order 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checked: no duplicate orders, and every product has one consistent price.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held near R105k a month for two years, then dropped to about R71k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7607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492240" y="123444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29400" y="13075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−32%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629400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Feb–Jun 2026 vs the same months of 2025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92240" y="260604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29400" y="26791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−33%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6629400" y="3246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orders in the same period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EAF3F5"/>
          </a:solidFill>
          <a:ln w="12700">
            <a:solidFill>
              <a:srgbClr val="EAF3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41148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pPr indent="0" marL="0">
              <a:buNone/>
            </a:pPr>
            <a:r>
              <a:rPr lang="en-US" sz="14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2026 was normal, so something changed in February. The average order stayed at R70; fewer orders came 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fall hits every category, so this is not one product's problem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234440"/>
            <a:ext cx="2834640" cy="2697480"/>
          </a:xfrm>
          <a:prstGeom prst="roundRect">
            <a:avLst>
              <a:gd name="adj" fmla="val 2712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35040" y="1325880"/>
            <a:ext cx="2468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seasonal peaks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2024 and 2025 every month stayed within about −8% to +4% of the monthly average. February was slightly the weakest.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and segments fell too, between −22% and −41%.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EAF3F5"/>
          </a:solidFill>
          <a:ln w="12700">
            <a:solidFill>
              <a:srgbClr val="EAF3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41148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pPr indent="0" marL="0">
              <a:buNone/>
            </a:pPr>
            <a:r>
              <a:rPr lang="en-US" sz="14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drop this even points to something that affects the whole shop, such as traffic, marketing, the website or stock.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 earns half the revenue; Stationery sells many units but earns 2%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0233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1188720"/>
          <a:ext cx="40233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EAF3F5"/>
          </a:solidFill>
          <a:ln w="12700">
            <a:solidFill>
              <a:srgbClr val="EAF3F5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94360" y="41148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pPr indent="0" marL="0">
              <a:buNone/>
            </a:pPr>
            <a:r>
              <a:rPr lang="en-US" sz="14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sellers by volume (Accessories, Stationery) are not the biggest earners. High-priced Electronics carry the shop.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Headphones lead on revenue, Notebooks on units; only 3 products make both top 10 lists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0233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1188720"/>
          <a:ext cx="40233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EAF3F5"/>
          </a:solidFill>
          <a:ln w="12700">
            <a:solidFill>
              <a:srgbClr val="EAF3F5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94360" y="41148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pPr indent="0" marL="0">
              <a:buNone/>
            </a:pPr>
            <a:r>
              <a:rPr lang="en-US" sz="14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items bring traffic; Headphones, Office Chairs and Tablets bring the money. Monitor is last on revenue (R20k).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Tehran brings in 27.5% of revenue, and Regular customers 55%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9377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5486400" y="1188720"/>
          <a:ext cx="32004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EAF3F5"/>
          </a:solidFill>
          <a:ln w="12700">
            <a:solidFill>
              <a:srgbClr val="EAF3F5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94360" y="41148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pPr indent="0" marL="0">
              <a:buNone/>
            </a:pPr>
            <a:r>
              <a:rPr lang="en-US" sz="14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rests on Tehran and Regular customers. VIPs are only 9.6% of revenue and their average order (R68) is no bigger.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order in seven earns no revenue, and no payment method is to blame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286000" cy="621792"/>
          </a:xfrm>
          <a:prstGeom prst="roundRect">
            <a:avLst>
              <a:gd name="adj" fmla="val 11765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4.9%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188720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01952"/>
            <a:ext cx="2286000" cy="621792"/>
          </a:xfrm>
          <a:prstGeom prst="roundRect">
            <a:avLst>
              <a:gd name="adj" fmla="val 11765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901952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3.1%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901952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615184"/>
            <a:ext cx="2286000" cy="621792"/>
          </a:xfrm>
          <a:prstGeom prst="roundRect">
            <a:avLst>
              <a:gd name="adj" fmla="val 11765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615184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3.8%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615184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failed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2286000" cy="621792"/>
          </a:xfrm>
          <a:prstGeom prst="roundRect">
            <a:avLst>
              <a:gd name="adj" fmla="val 11765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328416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3.0%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328416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refunded</a:t>
            </a:r>
            <a:endParaRPr lang="en-US" sz="13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3017520" y="1188720"/>
          <a:ext cx="56692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EAF3F5"/>
          </a:solidFill>
          <a:ln w="12700">
            <a:solidFill>
              <a:srgbClr val="EAF3F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41148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pPr indent="0" marL="0">
              <a:buNone/>
            </a:pPr>
            <a:r>
              <a:rPr lang="en-US" sz="14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orders were worth R505k at list value. Failures run 3.6–4.0% on every method, so the fix is not one payment type.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Bigger discounts lower the order value but do not add units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234440"/>
            <a:ext cx="2834640" cy="2697480"/>
          </a:xfrm>
          <a:prstGeom prst="roundRect">
            <a:avLst>
              <a:gd name="adj" fmla="val 2712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35040" y="1325880"/>
            <a:ext cx="2468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 units</a:t>
            </a:r>
            <a:endParaRPr lang="en-US" sz="3000" dirty="0"/>
          </a:p>
          <a:p>
            <a:pPr indent="0" marL="0">
              <a:buNone/>
            </a:pPr>
            <a:r>
              <a:rPr lang="en-US" sz="14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order at every discount level, from 0% to 30%.</a:t>
            </a:r>
            <a:endParaRPr lang="en-US" sz="3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000" dirty="0"/>
          </a:p>
          <a:p>
            <a:pPr indent="0" marL="0">
              <a:buNone/>
            </a:pPr>
            <a:r>
              <a:rPr lang="en-US" sz="14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paid orders got a discount, costing R247k. R146k of that went on the 9,885 orders at 15% or more.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EAF3F5"/>
          </a:solidFill>
          <a:ln w="12700">
            <a:solidFill>
              <a:srgbClr val="EAF3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41148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pPr indent="0" marL="0">
              <a:buNone/>
            </a:pPr>
            <a:r>
              <a:rPr lang="en-US" sz="14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do not buy more when the discount is bigger, so deep discounts appear to give margin away for nothing.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3429000"/>
          </a:xfrm>
          <a:prstGeom prst="roundRect">
            <a:avLst>
              <a:gd name="adj" fmla="val 3509"/>
            </a:avLst>
          </a:prstGeom>
          <a:solidFill>
            <a:srgbClr val="173B52"/>
          </a:solidFill>
          <a:ln w="12700">
            <a:solidFill>
              <a:srgbClr val="173B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8016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February 2026 order drop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4320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what changed that month: traffic, marketing spend, website or checkout, stock. Winning back the R34k a month gap is worth about R410k a year.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06040" cy="3429000"/>
          </a:xfrm>
          <a:prstGeom prst="roundRect">
            <a:avLst>
              <a:gd name="adj" fmla="val 3509"/>
            </a:avLst>
          </a:prstGeom>
          <a:solidFill>
            <a:srgbClr val="173B52"/>
          </a:solidFill>
          <a:ln w="12700">
            <a:solidFill>
              <a:srgbClr val="173B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28016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920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 discounts at 10%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74320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at 15% or more earned R56–R65 against R75 with no discount, with no extra units. Test the cap for one quarter and watch order counts.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06040" cy="3429000"/>
          </a:xfrm>
          <a:prstGeom prst="roundRect">
            <a:avLst>
              <a:gd name="adj" fmla="val 3509"/>
            </a:avLst>
          </a:prstGeom>
          <a:solidFill>
            <a:srgbClr val="173B52"/>
          </a:solidFill>
          <a:ln w="12700">
            <a:solidFill>
              <a:srgbClr val="173B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28016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1920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 back the orders that earn nothing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74320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14.3% of orders (R505k at list value) were cancelled, returned, failed or refunded. Retry failed payments and ask why customers cancel or return.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check next, and what the data cannot tell us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caveats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is priced at R21, far below similar items. Please confirm the price.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of orders are dated before the customer's signup date, so New, Regular and VIP labels may be unreliable.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Cancelled orders show as Paid. We counted none of them as revenue.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what changed in February 2026.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cost data to measure profit, not just revenue.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cancellation and return reasons.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this deck monthly with the same revenue rule.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op Performance">
  <a:themeElements>
    <a:clrScheme name="Shop Performance">
      <a:dk1>
        <a:srgbClr val="1A1A1A"/>
      </a:dk1>
      <a:lt1>
        <a:srgbClr val="FFFFFF"/>
      </a:lt1>
      <a:dk2>
        <a:srgbClr val="0F2A3D"/>
      </a:dk2>
      <a:lt2>
        <a:srgbClr val="F3F6F8"/>
      </a:lt2>
      <a:accent1>
        <a:srgbClr val="1B7F8E"/>
      </a:accent1>
      <a:accent2>
        <a:srgbClr val="F2A541"/>
      </a:accent2>
      <a:accent3>
        <a:srgbClr val="C8553D"/>
      </a:accent3>
      <a:accent4>
        <a:srgbClr val="4C6A7A"/>
      </a:accent4>
      <a:accent5>
        <a:srgbClr val="8FB8C0"/>
      </a:accent5>
      <a:accent6>
        <a:srgbClr val="B9C6CE"/>
      </a:accent6>
      <a:hlink>
        <a:srgbClr val="1B7F8E"/>
      </a:hlink>
      <a:folHlink>
        <a:srgbClr val="5B6B76"/>
      </a:folHlink>
    </a:clrScheme>
    <a:fontScheme name="Shop Performan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Is the Shop Performing?</dc:title>
  <dc:subject>PptxGenJS Presentation</dc:subject>
  <dc:creator>PptxGenJS</dc:creator>
  <cp:lastModifiedBy>PptxGenJS</cp:lastModifiedBy>
  <cp:revision>1</cp:revision>
  <dcterms:created xsi:type="dcterms:W3CDTF">2026-10-05T13:25:45Z</dcterms:created>
  <dcterms:modified xsi:type="dcterms:W3CDTF">2026-10-05T13:25:45Z</dcterms:modified>
</cp:coreProperties>
</file>